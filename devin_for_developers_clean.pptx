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628" y="94506"/>
            <a:ext cx="8238744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75"/>
              </a:lnSpc>
              <a:buNone/>
            </a:pPr>
            <a:r>
              <a:rPr lang="en-US" sz="8250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533400" y="1818531"/>
            <a:ext cx="8077200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0"/>
              </a:lnSpc>
              <a:buNone/>
            </a:pPr>
            <a:r>
              <a:rPr lang="en-US" sz="576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Devin for Developers</a:t>
            </a:r>
            <a:endParaRPr lang="en-US" sz="5760" dirty="0"/>
          </a:p>
        </p:txBody>
      </p:sp>
      <p:sp>
        <p:nvSpPr>
          <p:cNvPr id="4" name="Text 2"/>
          <p:cNvSpPr/>
          <p:nvPr/>
        </p:nvSpPr>
        <p:spPr>
          <a:xfrm>
            <a:off x="452628" y="4012853"/>
            <a:ext cx="82387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88A1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Features, best practices, and ACU-efficient usage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914400" y="4515743"/>
            <a:ext cx="731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integrate Devin into real engineering workflows so you ship more, keep control, and avoid burning Agent Compute Units needlessly.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82364"/>
            <a:ext cx="3943350" cy="1427857"/>
          </a:xfrm>
          <a:prstGeom prst="roundRect">
            <a:avLst>
              <a:gd name="adj" fmla="val 115272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67250" y="582364"/>
            <a:ext cx="3943350" cy="1427857"/>
          </a:xfrm>
          <a:prstGeom prst="roundRect">
            <a:avLst>
              <a:gd name="adj" fmla="val 115272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200721"/>
            <a:ext cx="3943350" cy="1427857"/>
          </a:xfrm>
          <a:prstGeom prst="roundRect">
            <a:avLst>
              <a:gd name="adj" fmla="val 115272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2200721"/>
            <a:ext cx="3943350" cy="1427857"/>
          </a:xfrm>
          <a:prstGeom prst="roundRect">
            <a:avLst>
              <a:gd name="adj" fmla="val 115272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819079"/>
            <a:ext cx="3943350" cy="1427857"/>
          </a:xfrm>
          <a:prstGeom prst="roundRect">
            <a:avLst>
              <a:gd name="adj" fmla="val 115272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0" y="3819079"/>
            <a:ext cx="3943350" cy="1427857"/>
          </a:xfrm>
          <a:prstGeom prst="roundRect">
            <a:avLst>
              <a:gd name="adj" fmla="val 115272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-103436"/>
            <a:ext cx="8238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agenda (35 minutes)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33425" y="782389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3425" y="1087189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Devin 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3425" y="1430089"/>
            <a:ext cx="3543300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Positioning, capabilities, and where it fits in a modern engineering team.</a:t>
            </a:r>
            <a:endParaRPr lang="en-US" sz="1032" dirty="0"/>
          </a:p>
        </p:txBody>
      </p:sp>
      <p:sp>
        <p:nvSpPr>
          <p:cNvPr id="12" name="Text 10"/>
          <p:cNvSpPr/>
          <p:nvPr/>
        </p:nvSpPr>
        <p:spPr>
          <a:xfrm>
            <a:off x="4867275" y="782389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7275" y="1087189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features &amp; workflow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67275" y="1430089"/>
            <a:ext cx="3543300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Shell, IDE, browser, ACUs, and how sessions actually run end to end.</a:t>
            </a:r>
            <a:endParaRPr lang="en-US" sz="1032" dirty="0"/>
          </a:p>
        </p:txBody>
      </p:sp>
      <p:sp>
        <p:nvSpPr>
          <p:cNvPr id="15" name="Text 13"/>
          <p:cNvSpPr/>
          <p:nvPr/>
        </p:nvSpPr>
        <p:spPr>
          <a:xfrm>
            <a:off x="733425" y="2400746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3425" y="2705546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tasks vs bad tasks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3425" y="3048446"/>
            <a:ext cx="3543300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Use-case criteria from the docs: "wide &amp; shallow" work, repetitive subtasks, and verifiable outcomes.</a:t>
            </a:r>
            <a:endParaRPr lang="en-US" sz="1032" dirty="0"/>
          </a:p>
        </p:txBody>
      </p:sp>
      <p:sp>
        <p:nvSpPr>
          <p:cNvPr id="18" name="Text 16"/>
          <p:cNvSpPr/>
          <p:nvPr/>
        </p:nvSpPr>
        <p:spPr>
          <a:xfrm>
            <a:off x="4867275" y="2400746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67275" y="2705546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Instructing Devin effectively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67275" y="3048446"/>
            <a:ext cx="3543300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patterns, context, examples, and success criteria that match official guidance.</a:t>
            </a:r>
            <a:endParaRPr lang="en-US" sz="1032" dirty="0"/>
          </a:p>
        </p:txBody>
      </p:sp>
      <p:sp>
        <p:nvSpPr>
          <p:cNvPr id="21" name="Text 19"/>
          <p:cNvSpPr/>
          <p:nvPr/>
        </p:nvSpPr>
        <p:spPr>
          <a:xfrm>
            <a:off x="733425" y="40191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3425" y="43239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 efficiency playbook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3425" y="4666804"/>
            <a:ext cx="3543300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ACUs work, what burns them, and concrete habits to stay within budget.</a:t>
            </a:r>
            <a:endParaRPr lang="en-US" sz="1032" dirty="0"/>
          </a:p>
        </p:txBody>
      </p:sp>
      <p:sp>
        <p:nvSpPr>
          <p:cNvPr id="24" name="Text 22"/>
          <p:cNvSpPr/>
          <p:nvPr/>
        </p:nvSpPr>
        <p:spPr>
          <a:xfrm>
            <a:off x="4867275" y="40191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67275" y="43239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&amp; Q&amp;A setup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67275" y="4666804"/>
            <a:ext cx="3543300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demo scenario, what to narrate, and how to handle imperfect results.</a:t>
            </a:r>
            <a:endParaRPr lang="en-US" sz="103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877639"/>
            <a:ext cx="3924300" cy="2646164"/>
          </a:xfrm>
          <a:prstGeom prst="roundRect">
            <a:avLst>
              <a:gd name="adj" fmla="val 62200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877639"/>
            <a:ext cx="3924300" cy="2646164"/>
          </a:xfrm>
          <a:prstGeom prst="roundRect">
            <a:avLst>
              <a:gd name="adj" fmla="val 62200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3752404"/>
            <a:ext cx="8077200" cy="1199257"/>
          </a:xfrm>
          <a:prstGeom prst="roundRect">
            <a:avLst>
              <a:gd name="adj" fmla="val 137245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91839"/>
            <a:ext cx="8238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Devin actually is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09625" y="1153864"/>
            <a:ext cx="3439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9625" y="1763464"/>
            <a:ext cx="33718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AI software engineer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9625" y="2487364"/>
            <a:ext cx="3371850" cy="760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Devin is positioned as an autonomous AI software engineer that can write, run, and test code, and is expected to handle most tasks that a human engineer could complete in around three hours or less.</a:t>
            </a:r>
            <a:endParaRPr lang="en-US" sz="1032" dirty="0"/>
          </a:p>
        </p:txBody>
      </p:sp>
      <p:sp>
        <p:nvSpPr>
          <p:cNvPr id="9" name="Text 7"/>
          <p:cNvSpPr/>
          <p:nvPr/>
        </p:nvSpPr>
        <p:spPr>
          <a:xfrm>
            <a:off x="4962525" y="1153864"/>
            <a:ext cx="3439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🛠️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62525" y="1763464"/>
            <a:ext cx="33718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inside a real dev environment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62525" y="2487364"/>
            <a:ext cx="3371850" cy="760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runs in a sandboxed environment with its own shell, code editor, and browser, giving it the same basic tools a human engineer uses for planning, coding, running tests, and browsing documentation.</a:t>
            </a:r>
            <a:endParaRPr lang="en-US" sz="1032" dirty="0"/>
          </a:p>
        </p:txBody>
      </p:sp>
      <p:sp>
        <p:nvSpPr>
          <p:cNvPr id="12" name="Text 10"/>
          <p:cNvSpPr/>
          <p:nvPr/>
        </p:nvSpPr>
        <p:spPr>
          <a:xfrm>
            <a:off x="771525" y="3990529"/>
            <a:ext cx="77529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frame this to developers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1525" y="4333429"/>
            <a:ext cx="7600950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Devin as a tireless teammate that executes scoped engineering work, not as a replacement for architectural decisions, product judgment, or production ownership.</a:t>
            </a:r>
            <a:endParaRPr lang="en-US" sz="10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011436"/>
            <a:ext cx="2565350" cy="2378571"/>
          </a:xfrm>
          <a:prstGeom prst="roundRect">
            <a:avLst>
              <a:gd name="adj" fmla="val 69198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89250" y="1011436"/>
            <a:ext cx="2565350" cy="2378571"/>
          </a:xfrm>
          <a:prstGeom prst="roundRect">
            <a:avLst>
              <a:gd name="adj" fmla="val 69198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011436"/>
            <a:ext cx="2565499" cy="2378571"/>
          </a:xfrm>
          <a:prstGeom prst="roundRect">
            <a:avLst>
              <a:gd name="adj" fmla="val 69198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618607"/>
            <a:ext cx="8077200" cy="1199257"/>
          </a:xfrm>
          <a:prstGeom prst="roundRect">
            <a:avLst>
              <a:gd name="adj" fmla="val 137245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25636"/>
            <a:ext cx="8238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Devin's core strengths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33425" y="1211461"/>
            <a:ext cx="22086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📦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33425" y="1706761"/>
            <a:ext cx="2208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execution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3425" y="2049661"/>
            <a:ext cx="2165300" cy="114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 highlight Linear and Jira tickets, bug fixes, unit tests, documentation updates, and app testing as ideal Devin tasks when they are well specified and verifiable.</a:t>
            </a:r>
            <a:endParaRPr lang="en-US" sz="1032" dirty="0"/>
          </a:p>
        </p:txBody>
      </p:sp>
      <p:sp>
        <p:nvSpPr>
          <p:cNvPr id="10" name="Text 8"/>
          <p:cNvSpPr/>
          <p:nvPr/>
        </p:nvSpPr>
        <p:spPr>
          <a:xfrm>
            <a:off x="3489275" y="1211461"/>
            <a:ext cx="22086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🔁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489275" y="1706761"/>
            <a:ext cx="2208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Refactors &amp; migrations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89275" y="2049661"/>
            <a:ext cx="2165300" cy="95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Devin is used by teams to accelerate large refactors and migrations, especially when thousands of similar changes can be sliced into repetitive subtasks.</a:t>
            </a:r>
            <a:endParaRPr lang="en-US" sz="1032" dirty="0"/>
          </a:p>
        </p:txBody>
      </p:sp>
      <p:sp>
        <p:nvSpPr>
          <p:cNvPr id="13" name="Text 11"/>
          <p:cNvSpPr/>
          <p:nvPr/>
        </p:nvSpPr>
        <p:spPr>
          <a:xfrm>
            <a:off x="6245126" y="1211461"/>
            <a:ext cx="22087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🧪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245126" y="1706761"/>
            <a:ext cx="22087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45126" y="2049661"/>
            <a:ext cx="2165449" cy="760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Devin performs best when success is easy to check through tests, CI, or observable behavior such as passing unit suites or green builds.</a:t>
            </a:r>
            <a:endParaRPr lang="en-US" sz="1032" dirty="0"/>
          </a:p>
        </p:txBody>
      </p:sp>
      <p:sp>
        <p:nvSpPr>
          <p:cNvPr id="16" name="Text 14"/>
          <p:cNvSpPr/>
          <p:nvPr/>
        </p:nvSpPr>
        <p:spPr>
          <a:xfrm>
            <a:off x="771525" y="3856732"/>
            <a:ext cx="77529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of thumb from the docs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1525" y="4199632"/>
            <a:ext cx="7600950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could do a task in roughly three hours or less and it has clear verification criteria, Devin is a strong fit. For longer or fuzzier work, break it into smaller sessions.</a:t>
            </a:r>
            <a:endParaRPr lang="en-US" sz="103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06289"/>
            <a:ext cx="3943350" cy="1313111"/>
          </a:xfrm>
          <a:prstGeom prst="roundRect">
            <a:avLst>
              <a:gd name="adj" fmla="val 125345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67250" y="1506289"/>
            <a:ext cx="3943350" cy="1313111"/>
          </a:xfrm>
          <a:prstGeom prst="roundRect">
            <a:avLst>
              <a:gd name="adj" fmla="val 125345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3009900"/>
            <a:ext cx="3943350" cy="1313111"/>
          </a:xfrm>
          <a:prstGeom prst="roundRect">
            <a:avLst>
              <a:gd name="adj" fmla="val 125345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3009900"/>
            <a:ext cx="3943350" cy="1313111"/>
          </a:xfrm>
          <a:prstGeom prst="roundRect">
            <a:avLst>
              <a:gd name="adj" fmla="val 125345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820489"/>
            <a:ext cx="8238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Inside a Devin session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33425" y="170631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3425" y="2049214"/>
            <a:ext cx="3543300" cy="57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Devin executes commands, runs tests, and manages processes in its own shell, letting you see exactly what it is doing in your repo and environment.</a:t>
            </a:r>
            <a:endParaRPr lang="en-US" sz="1032" dirty="0"/>
          </a:p>
        </p:txBody>
      </p:sp>
      <p:sp>
        <p:nvSpPr>
          <p:cNvPr id="9" name="Text 7"/>
          <p:cNvSpPr/>
          <p:nvPr/>
        </p:nvSpPr>
        <p:spPr>
          <a:xfrm>
            <a:off x="4867275" y="170631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IDE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67275" y="2049214"/>
            <a:ext cx="3543300" cy="57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 watch Devin edit files, review diffs, and take over manually at any point, treating it like a junior engineer whose work you review before merging.</a:t>
            </a:r>
            <a:endParaRPr lang="en-US" sz="1032" dirty="0"/>
          </a:p>
        </p:txBody>
      </p:sp>
      <p:sp>
        <p:nvSpPr>
          <p:cNvPr id="11" name="Text 9"/>
          <p:cNvSpPr/>
          <p:nvPr/>
        </p:nvSpPr>
        <p:spPr>
          <a:xfrm>
            <a:off x="733425" y="3209925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&amp; interactive testing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3425" y="3552825"/>
            <a:ext cx="3543300" cy="57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Devin can browse documentation, spin up your app, click through flows, take screenshots and even record screen sessions to validate its changes.</a:t>
            </a:r>
            <a:endParaRPr lang="en-US" sz="1032" dirty="0"/>
          </a:p>
        </p:txBody>
      </p:sp>
      <p:sp>
        <p:nvSpPr>
          <p:cNvPr id="13" name="Text 11"/>
          <p:cNvSpPr/>
          <p:nvPr/>
        </p:nvSpPr>
        <p:spPr>
          <a:xfrm>
            <a:off x="4867275" y="3209925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agents &amp; scheduling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67275" y="3552825"/>
            <a:ext cx="3543300" cy="57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can run multiple Devins in parallel and use scheduled sessions for repetitive work like dependency updates, CI triage, and report generation.</a:t>
            </a:r>
            <a:endParaRPr lang="en-US" sz="103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364307"/>
            <a:ext cx="3924300" cy="3100685"/>
          </a:xfrm>
          <a:prstGeom prst="roundRect">
            <a:avLst>
              <a:gd name="adj" fmla="val 53082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364307"/>
            <a:ext cx="3924300" cy="3100685"/>
          </a:xfrm>
          <a:prstGeom prst="roundRect">
            <a:avLst>
              <a:gd name="adj" fmla="val 53082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678507"/>
            <a:ext cx="8238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makes a good Devin task?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1525" y="1602432"/>
            <a:ext cx="35170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characteristics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1525" y="2021532"/>
            <a:ext cx="3448050" cy="20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be done by a human in under about three hours.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Isolated, repetitive subtasks ("wide &amp; shallow" rather than "tall &amp; deep").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Junior-engineer level complexity, not heavy product/architecture calls.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Objective, verifiable outcomes (tests, CI, scripts, screenshots).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Backwards-compatible changes that are safe to merge incrementally.</a:t>
            </a:r>
            <a:endParaRPr lang="en-US" sz="1032" dirty="0"/>
          </a:p>
        </p:txBody>
      </p:sp>
      <p:sp>
        <p:nvSpPr>
          <p:cNvPr id="7" name="Text 5"/>
          <p:cNvSpPr/>
          <p:nvPr/>
        </p:nvSpPr>
        <p:spPr>
          <a:xfrm>
            <a:off x="4924425" y="1602432"/>
            <a:ext cx="35170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to avoid or slice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24425" y="2021532"/>
            <a:ext cx="3448050" cy="2205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net-new product features with fuzzy requirements.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that depends on hidden systems or unavailable credentials.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"Make it better" tasks without concrete targets or constraints.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Cross-cutting changes without a clear playbook or examples.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task where you cannot write down a precise "done" condition.</a:t>
            </a:r>
            <a:endParaRPr lang="en-US" sz="10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595"/>
            <a:ext cx="3924300" cy="2780109"/>
          </a:xfrm>
          <a:prstGeom prst="roundRect">
            <a:avLst>
              <a:gd name="adj" fmla="val 59203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square" lIns="228600" tIns="228600" rIns="228600" bIns="228600" rtlCol="0" anchor="t">
            <a:normAutofit/>
          </a:bodyPr>
          <a:lstStyle/>
          <a:p>
            <a:pPr algn="l" indent="0" marL="0">
              <a:buNone/>
            </a:pPr>
            <a:r>
              <a:rPr lang="en-US" sz="1008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Task: Refactor auth middleware in api/auth.py.\nScope: Only touch files under services/auth and tests/auth.\nContext: Follow error-handling patterns from auth_template.py.\nDocs: Use the internal auth guidelines in docs/auth.md.\nSuccess: All auth tests pass, no lint errors, no behavior changes for existing routes.\nChecks: Run pytest tests/auth -q and ruff check services/auth.\nProcess: First share a step-by-step plan. Wait for my approval before editing code.</a:t>
            </a:r>
            <a:endParaRPr lang="en-US" sz="1008" dirty="0"/>
          </a:p>
        </p:txBody>
      </p:sp>
      <p:sp>
        <p:nvSpPr>
          <p:cNvPr id="3" name="Text 1"/>
          <p:cNvSpPr/>
          <p:nvPr/>
        </p:nvSpPr>
        <p:spPr>
          <a:xfrm>
            <a:off x="4686300" y="1592461"/>
            <a:ext cx="3924300" cy="2644378"/>
          </a:xfrm>
          <a:prstGeom prst="roundRect">
            <a:avLst>
              <a:gd name="adj" fmla="val 62242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838795"/>
            <a:ext cx="8238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pattern that matches the docs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24425" y="1830586"/>
            <a:ext cx="35170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24425" y="2249686"/>
            <a:ext cx="3448050" cy="174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helpful context, references, and filenames instead of vague goals.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Gives step-by-step expectations and an explicit checkpoint before changes.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clear success criteria with concrete commands Devin can run.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Aligns with the official guidance: be specific, opinionated, and verifiable.</a:t>
            </a:r>
            <a:endParaRPr lang="en-US" sz="10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364307"/>
            <a:ext cx="3924300" cy="3100685"/>
          </a:xfrm>
          <a:prstGeom prst="roundRect">
            <a:avLst>
              <a:gd name="adj" fmla="val 53082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364307"/>
            <a:ext cx="3924300" cy="3100685"/>
          </a:xfrm>
          <a:prstGeom prst="roundRect">
            <a:avLst>
              <a:gd name="adj" fmla="val 53082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678507"/>
            <a:ext cx="8238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Do's and don'ts when instructing Devin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1525" y="1602432"/>
            <a:ext cx="35170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1525" y="2021532"/>
            <a:ext cx="3448050" cy="2205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very specific and opinionated; make design decisions yourself.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step-by-step instructions for non-trivial workflows.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examples, before/after pairs, and direct doc links.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how Devin should check its work: tests, CI, scripts, or UI flows.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checkpoints and ask Devin to report back after each one.</a:t>
            </a:r>
            <a:endParaRPr lang="en-US" sz="1032" dirty="0"/>
          </a:p>
        </p:txBody>
      </p:sp>
      <p:sp>
        <p:nvSpPr>
          <p:cNvPr id="7" name="Text 5"/>
          <p:cNvSpPr/>
          <p:nvPr/>
        </p:nvSpPr>
        <p:spPr>
          <a:xfrm>
            <a:off x="4924425" y="1602432"/>
            <a:ext cx="35170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24425" y="2021532"/>
            <a:ext cx="3448050" cy="2205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"improve performance" without specifying queries and targets.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"make the app look better" without designs or examples.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major architectural or product decisions entirely to Devin.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 context for domain-heavy tasks that rely on internal knowledge.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huge tasks in a single session instead of slicing them.</a:t>
            </a:r>
            <a:endParaRPr lang="en-US" sz="10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687711"/>
            <a:ext cx="8077200" cy="2453878"/>
          </a:xfrm>
          <a:prstGeom prst="roundRect">
            <a:avLst>
              <a:gd name="adj" fmla="val 67074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001911"/>
            <a:ext cx="8238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ACUs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1525" y="1935361"/>
            <a:ext cx="6606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Definition.</a:t>
            </a:r>
            <a:endParaRPr lang="en-US" sz="1032" dirty="0"/>
          </a:p>
        </p:txBody>
      </p:sp>
      <p:sp>
        <p:nvSpPr>
          <p:cNvPr id="5" name="Text 3"/>
          <p:cNvSpPr/>
          <p:nvPr/>
        </p:nvSpPr>
        <p:spPr>
          <a:xfrm>
            <a:off x="771525" y="2467868"/>
            <a:ext cx="3983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Plans.</a:t>
            </a:r>
            <a:endParaRPr lang="en-US" sz="1032" dirty="0"/>
          </a:p>
        </p:txBody>
      </p:sp>
      <p:sp>
        <p:nvSpPr>
          <p:cNvPr id="6" name="Text 4"/>
          <p:cNvSpPr/>
          <p:nvPr/>
        </p:nvSpPr>
        <p:spPr>
          <a:xfrm>
            <a:off x="771525" y="300037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Auto-recharge.</a:t>
            </a:r>
            <a:endParaRPr lang="en-US" sz="1032" dirty="0"/>
          </a:p>
        </p:txBody>
      </p:sp>
      <p:sp>
        <p:nvSpPr>
          <p:cNvPr id="7" name="Text 5"/>
          <p:cNvSpPr/>
          <p:nvPr/>
        </p:nvSpPr>
        <p:spPr>
          <a:xfrm>
            <a:off x="771525" y="3532882"/>
            <a:ext cx="913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 model.</a:t>
            </a:r>
            <a:endParaRPr lang="en-US" sz="103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95325"/>
            <a:ext cx="8077200" cy="628650"/>
          </a:xfrm>
          <a:prstGeom prst="roundRect">
            <a:avLst>
              <a:gd name="adj" fmla="val 261818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76375"/>
            <a:ext cx="8077200" cy="857250"/>
          </a:xfrm>
          <a:prstGeom prst="roundRect">
            <a:avLst>
              <a:gd name="adj" fmla="val 192000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486025"/>
            <a:ext cx="8077200" cy="628650"/>
          </a:xfrm>
          <a:prstGeom prst="roundRect">
            <a:avLst>
              <a:gd name="adj" fmla="val 261818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267075"/>
            <a:ext cx="8077200" cy="857250"/>
          </a:xfrm>
          <a:prstGeom prst="roundRect">
            <a:avLst>
              <a:gd name="adj" fmla="val 192000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4276725"/>
            <a:ext cx="8077200" cy="857250"/>
          </a:xfrm>
          <a:prstGeom prst="roundRect">
            <a:avLst>
              <a:gd name="adj" fmla="val 192000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9525"/>
            <a:ext cx="8238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ACU efficiency playbook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33425" y="914400"/>
            <a:ext cx="11172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Start narrow.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6425" y="942975"/>
            <a:ext cx="485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one ticket, one refactor, or one bug at a time instead of an entire epic.</a:t>
            </a:r>
            <a:endParaRPr lang="en-US" sz="1032" dirty="0"/>
          </a:p>
        </p:txBody>
      </p:sp>
      <p:sp>
        <p:nvSpPr>
          <p:cNvPr id="10" name="Text 8"/>
          <p:cNvSpPr/>
          <p:nvPr/>
        </p:nvSpPr>
        <p:spPr>
          <a:xfrm>
            <a:off x="733425" y="1695450"/>
            <a:ext cx="1836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Use pre-task scoping.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3425" y="1724025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"Ask Devin" to explore the codebase, then generate a focused, high-context prompt instead of diving straight into implementation.</a:t>
            </a:r>
            <a:endParaRPr lang="en-US" sz="1032" dirty="0"/>
          </a:p>
        </p:txBody>
      </p:sp>
      <p:sp>
        <p:nvSpPr>
          <p:cNvPr id="12" name="Text 10"/>
          <p:cNvSpPr/>
          <p:nvPr/>
        </p:nvSpPr>
        <p:spPr>
          <a:xfrm>
            <a:off x="733425" y="2705100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Define verification up front.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2733675"/>
            <a:ext cx="55086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Specify tests, CI checks, scripts, or UI flows Devin should run so it knows when to stop.</a:t>
            </a:r>
            <a:endParaRPr lang="en-US" sz="1032" dirty="0"/>
          </a:p>
        </p:txBody>
      </p:sp>
      <p:sp>
        <p:nvSpPr>
          <p:cNvPr id="14" name="Text 12"/>
          <p:cNvSpPr/>
          <p:nvPr/>
        </p:nvSpPr>
        <p:spPr>
          <a:xfrm>
            <a:off x="733425" y="3486150"/>
            <a:ext cx="1641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Slice large projects.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3425" y="3514725"/>
            <a:ext cx="721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migrations and refactors into many independent subtasks and run multiple Devins in parallel.</a:t>
            </a:r>
            <a:endParaRPr lang="en-US" sz="1032" dirty="0"/>
          </a:p>
        </p:txBody>
      </p:sp>
      <p:sp>
        <p:nvSpPr>
          <p:cNvPr id="16" name="Text 14"/>
          <p:cNvSpPr/>
          <p:nvPr/>
        </p:nvSpPr>
        <p:spPr>
          <a:xfrm>
            <a:off x="733425" y="4495800"/>
            <a:ext cx="2506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Reuse playbooks &amp; knowledge.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3425" y="4524375"/>
            <a:ext cx="7600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good prompts as playbooks and codify team conventions in Knowledge so future sessions start smarter.</a:t>
            </a:r>
            <a:endParaRPr lang="en-US" sz="103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459260"/>
            <a:ext cx="3924300" cy="2910632"/>
          </a:xfrm>
          <a:prstGeom prst="roundRect">
            <a:avLst>
              <a:gd name="adj" fmla="val 56549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459260"/>
            <a:ext cx="3924300" cy="2910632"/>
          </a:xfrm>
          <a:prstGeom prst="roundRect">
            <a:avLst>
              <a:gd name="adj" fmla="val 56549"/>
            </a:avLst>
          </a:prstGeom>
          <a:solidFill>
            <a:srgbClr val="0F172A">
              <a:alpha val="92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773460"/>
            <a:ext cx="8238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Suggested live demo flow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1525" y="1697385"/>
            <a:ext cx="35170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scenario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1525" y="2116485"/>
            <a:ext cx="3448050" cy="20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small public repo or safe internal sandbox.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 realistic task: add a missing unit test, fix a simple bug, or refactor a small module.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filenames, references, and exact commands Devin should run to validate.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Devin to first propose a plan, then explicitly approve it before it edits code.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shell, diffs in the IDE, and tests or CI turning green.</a:t>
            </a:r>
            <a:endParaRPr lang="en-US" sz="1032" dirty="0"/>
          </a:p>
        </p:txBody>
      </p:sp>
      <p:sp>
        <p:nvSpPr>
          <p:cNvPr id="7" name="Text 5"/>
          <p:cNvSpPr/>
          <p:nvPr/>
        </p:nvSpPr>
        <p:spPr>
          <a:xfrm>
            <a:off x="4924425" y="1697385"/>
            <a:ext cx="35170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Things not to demo live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24425" y="2116485"/>
            <a:ext cx="3448050" cy="182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Huge greenfield features or multi-service changes.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Flows that depend on production-only systems or fragile credentials.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Ambiguous UI or design changes with no Figma or reference.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without a crisp, automated "done" signal.</a:t>
            </a:r>
            <a:endParaRPr lang="en-US" sz="1032" dirty="0"/>
          </a:p>
          <a:p>
            <a:pPr marL="342900" indent="-342900">
              <a:lnSpc>
                <a:spcPts val="1496"/>
              </a:lnSpc>
              <a:buSzPct val="100000"/>
              <a:buChar char="•"/>
            </a:pPr>
            <a:r>
              <a:rPr lang="en-US" sz="1032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whose failure mode is confusing to explain on stage.</a:t>
            </a:r>
            <a:endParaRPr lang="en-US" sz="103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628" y="333375"/>
            <a:ext cx="82387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buNone/>
            </a:pPr>
            <a:r>
              <a:rPr lang="en-US" sz="7500" dirty="0">
                <a:solidFill>
                  <a:srgbClr val="E5F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533400" y="1914525"/>
            <a:ext cx="807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Devin like a teammate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895725"/>
            <a:ext cx="731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9D6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it clear scope, rich context, concrete checks, and frequent feedback. That is how you turn ACUs into real shipped value.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2628" y="4581525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8A1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2026-04-16T03:22:41Z</dcterms:created>
  <dcterms:modified xsi:type="dcterms:W3CDTF">2026-04-16T03:22:41Z</dcterms:modified>
</cp:coreProperties>
</file>