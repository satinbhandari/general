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https://docs.devin.ai/get-started/devin-intro
- https://docs.devin.ai/use-cases
- https://devin.ai/pricing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https://docs.devin.ai/get-started/devin-intro
- https://docs.devin.ai/use-cases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https://docs.devin.ai/get-started/devin-intro
- https://docs.devin.ai/use-cases
- https://devin.ai/pricing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https://docs.devin.ai/get-started/devin-intro
- https://cognition.ai/blog/devin-2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https://cognition.ai/blog/devin-2
- https://docs.devin.ai/use-cases
- https://docs.devin.ai/get-started/devin-intro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https://docs.devin.ai/work-with-devin/deepwiki
- https://docs.devin.ai/api-reference/v3/usage-examples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https://docs.devin.ai/api-reference/overview
- https://docs.devin.ai/api-reference/v3/usage-examples
- https://docs.devin.ai/integrations/overview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https://docs.devin.ai/integrations/overview
- https://docs.devin.ai/work-with-devin/mcp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https://docs.devin.ai/get-started/devin-intro
- https://docs.devin.ai/api-reference/v3/usage-examples
- https://docs.devin.ai/work-with-devin/deepwiki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https://devin.ai/pricing
- https://docs.devin.ai/product-guides/session-insights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https://docs.devin.ai/essential-guidelines/instructing-devin-effectively
- https://docs.devin.ai/product-guides/session-insights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https://docs.devin.ai/get-started/devin-intro
- https://devin.ai/pricing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https://docs.devin.ai/get-started/devin-intro
- https://docs.devin.ai/integrations/overview
- https://docs.devin.ai/api-reference/overview
- https://devin.ai/pricing
- https://docs.devin.ai/product-guides/session-insights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for Developers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0" y="731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Community Session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428232"/>
            <a:ext cx="11365992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648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developer-focused walkthrough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coding, integrations, and practical ways to keep ACU usage under control.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52360" y="914400"/>
            <a:ext cx="4023360" cy="27432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26680" y="11704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goals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99248" y="1481328"/>
            <a:ext cx="338328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what Devin does and where it fits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most useful features for developers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best practices that reduce ACU burn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 to demo live during the session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623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35-minute talk + Q&amp;A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for Developers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0" y="731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Community Session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428232"/>
            <a:ext cx="11365992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648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2412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 developer audience and a 35-minute slot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463040"/>
            <a:ext cx="41148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2704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4538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Devin 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71800" y="145389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Positioning, core value, and where it fits in the workflow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94360" y="2157984"/>
            <a:ext cx="41148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219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1488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 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71800" y="214884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work, planning, codebase Q&amp;A, tests, documentation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94360" y="2852928"/>
            <a:ext cx="41148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1693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28437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developers use 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71800" y="28437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UI, API, Slack, repo integration, and MCP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594360" y="3547872"/>
            <a:ext cx="41148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1188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5387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it efficiently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71800" y="35387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Prompting, verification, and ACU control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594360" y="4242816"/>
            <a:ext cx="41148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30682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2336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suggestions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71800" y="423367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show if you need a quick walkthrough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594360" y="4937760"/>
            <a:ext cx="41148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500176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15568" y="49286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prep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71800" y="49286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questions and concise answers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9144000" y="1444752"/>
            <a:ext cx="2423160" cy="3474720"/>
          </a:xfrm>
          <a:prstGeom prst="roundRect">
            <a:avLst>
              <a:gd name="adj" fmla="val 528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290304" y="155448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guide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90304" y="1792224"/>
            <a:ext cx="2130552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Intro: 3 min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10 min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+ integrations: 8 min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 best practices: 7 min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cues: 4 min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Wrap-up: 3 min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for Developers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0" y="731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Community Session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428232"/>
            <a:ext cx="11365992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648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Devin matters for developers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2412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where the work is repetitive, multi-step, and has a clear success criterion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463040"/>
            <a:ext cx="361188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0664" y="1572768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fit tasks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" y="1810512"/>
            <a:ext cx="3319272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tickets, bug fixes, code migrations, refactors, tests, documentation, app testing.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1463040"/>
            <a:ext cx="361188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35424" y="1572768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helps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35424" y="1810512"/>
            <a:ext cx="3319272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run end-to-end: plan, edit, execute, debug, and verify without hand-holding every step.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3880" y="1463040"/>
            <a:ext cx="3383280" cy="2057400"/>
          </a:xfrm>
          <a:prstGeom prst="roundRect">
            <a:avLst>
              <a:gd name="adj" fmla="val 6222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30184" y="1572768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shines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0184" y="1810512"/>
            <a:ext cx="3090672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you would normally finish in about 3 hours or less, especially if the scope is well defined.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8680" y="3840480"/>
            <a:ext cx="10287000" cy="1325880"/>
          </a:xfrm>
          <a:prstGeom prst="roundRect">
            <a:avLst>
              <a:gd name="adj" fmla="val 10345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041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message to the audience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3159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“Think of Devin as an AI teammate that is strongest when the work is concrete, testable, and has a clear finish line.”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for Developers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0" y="731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Community Session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428232"/>
            <a:ext cx="11365992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648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Devin works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2412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mental model is “chat + workspace + execution”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8952" y="1993392"/>
            <a:ext cx="402336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066544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8952" y="24871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task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952" y="281635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ticket, bug, or implementation goal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93008" y="182880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0" y="1993392"/>
            <a:ext cx="402336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066544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24871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plans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281635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reasons about the task and proposes a path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91656" y="182880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1993392"/>
            <a:ext cx="402336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2066544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56248" y="24871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in a sandbox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56248" y="281635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an embedded IDE and terminal to make changes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290304" y="182880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454896" y="1993392"/>
            <a:ext cx="402336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54896" y="2066544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54896" y="24871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inspect and steer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54896" y="281635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review, edit, or take over when needed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" y="4315968"/>
            <a:ext cx="10652760" cy="9601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45720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Devin is not just a chatbot. It is a worker that can act on the codebase and return a concrete artifact.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for Developers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0" y="731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Community Session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428232"/>
            <a:ext cx="11365992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648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 developers care about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2412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feature map, not a marketing list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572768"/>
            <a:ext cx="2852928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0664" y="16824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sessions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" y="1920240"/>
            <a:ext cx="2560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 up multiple Devins for separate tickets or experiments.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77640" y="1572768"/>
            <a:ext cx="2852928" cy="1143000"/>
          </a:xfrm>
          <a:prstGeom prst="roundRect">
            <a:avLst>
              <a:gd name="adj" fmla="val 11200"/>
            </a:avLst>
          </a:prstGeom>
          <a:solidFill>
            <a:srgbClr val="F8FAFC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23944" y="16824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IDE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23944" y="1920240"/>
            <a:ext cx="2560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edit code inside the workspace itself.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60920" y="1572768"/>
            <a:ext cx="2852928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07224" y="16824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planning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07224" y="1920240"/>
            <a:ext cx="2560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breaking complex work into manageable steps.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3127248"/>
            <a:ext cx="2852928" cy="1143000"/>
          </a:xfrm>
          <a:prstGeom prst="roundRect">
            <a:avLst>
              <a:gd name="adj" fmla="val 11200"/>
            </a:avLst>
          </a:prstGeom>
          <a:solidFill>
            <a:srgbClr val="F8FAFC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" y="32369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" y="3474720"/>
            <a:ext cx="2560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tests and inspect results before closing a task.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77640" y="3127248"/>
            <a:ext cx="2852928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23944" y="32369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 Q&amp;A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23944" y="3474720"/>
            <a:ext cx="2560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grounded in the repo context.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60920" y="3127248"/>
            <a:ext cx="2852928" cy="1143000"/>
          </a:xfrm>
          <a:prstGeom prst="roundRect">
            <a:avLst>
              <a:gd name="adj" fmla="val 11200"/>
            </a:avLst>
          </a:prstGeom>
          <a:solidFill>
            <a:srgbClr val="F8FAFC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07224" y="32369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PR-oriented output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07224" y="3474720"/>
            <a:ext cx="2560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refactors, fixes, and clean reviewable changes.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for Developers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0" y="731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Community Session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428232"/>
            <a:ext cx="11365992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648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DeepWiki and codebase understanding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2412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feature most developers will immediately use for onboarding and context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463040"/>
            <a:ext cx="365760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0664" y="1572768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" y="1810512"/>
            <a:ext cx="3364992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indexes repos and produces a wiki with summaries, architecture diagrams, and source links.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16552" y="1463040"/>
            <a:ext cx="365760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62856" y="1572768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helps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62856" y="1810512"/>
            <a:ext cx="3364992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Devin can use the wiki to find context faster and answer codebase questions more accurately.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47888" y="1463040"/>
            <a:ext cx="3337560" cy="2377440"/>
          </a:xfrm>
          <a:prstGeom prst="roundRect">
            <a:avLst>
              <a:gd name="adj" fmla="val 5385"/>
            </a:avLst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94192" y="1572768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demo topic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94192" y="1810512"/>
            <a:ext cx="3044952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repo you know well and ask a “where is X handled?” question.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8680" y="4160520"/>
            <a:ext cx="10332720" cy="1234440"/>
          </a:xfrm>
          <a:prstGeom prst="roundRect">
            <a:avLst>
              <a:gd name="adj" fmla="val 1037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3708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cue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6451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audience how a repo wiki lowers the time needed to understand unfamiliar code and reduces “where do I even start?” friction.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for Developers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0" y="731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Community Session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428232"/>
            <a:ext cx="11365992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648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and automation patterns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2412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when you want Devin to fit into scripts, CI, or internal tooling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508760"/>
            <a:ext cx="5577840" cy="43891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737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flow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2084832"/>
            <a:ext cx="493776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session with a clear prompt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Optionally attach knowledge or credentials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or inspect updates as work progresses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result and the final diff / PR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" y="3822192"/>
            <a:ext cx="5029200" cy="1417320"/>
          </a:xfrm>
          <a:prstGeom prst="roundRect">
            <a:avLst>
              <a:gd name="adj" fmla="val 774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0050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API payload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427939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“Fix the login bug in issue #42”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create_as_user_id: “user_abc123”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400800" y="1508760"/>
            <a:ext cx="521208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47104" y="161848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 to mention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47104" y="1856232"/>
            <a:ext cx="4919472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/ GitLab / Bitbucket, Slack / Teams, Jira / Linear, and MCP-based tools.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3566160"/>
            <a:ext cx="5212080" cy="18288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47104" y="367588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cue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47104" y="3913632"/>
            <a:ext cx="4919472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demo setup is ready, trigger a tiny task from Slack or via a curl request.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for Developers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0" y="731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Community Session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428232"/>
            <a:ext cx="11365992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648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 and workflow fit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2412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slide that helps developers map Devin to existing tools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572768"/>
            <a:ext cx="32918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0664" y="1682496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control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" y="1920240"/>
            <a:ext cx="299923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GitHub, GitLab, Bitbucket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990088"/>
            <a:ext cx="3291840" cy="1143000"/>
          </a:xfrm>
          <a:prstGeom prst="roundRect">
            <a:avLst>
              <a:gd name="adj" fmla="val 11200"/>
            </a:avLst>
          </a:prstGeom>
          <a:solidFill>
            <a:srgbClr val="F8FAFC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0664" y="3099816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/ ticketing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0664" y="3337560"/>
            <a:ext cx="299923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Slack, Teams, Jira, Linear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4407408"/>
            <a:ext cx="32918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0664" y="4517136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0664" y="4754880"/>
            <a:ext cx="299923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and internal tools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60520" y="1572768"/>
            <a:ext cx="7406640" cy="4526280"/>
          </a:xfrm>
          <a:prstGeom prst="roundRect">
            <a:avLst>
              <a:gd name="adj" fmla="val 323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828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0560" y="2148840"/>
            <a:ext cx="672084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need to change the team’s existing toolchain to try Devin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be triggered from the systems developers already use every day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lets Devin reach many more internal or external data sources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makes the session more realistic for enterprise engineering teams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4480560" y="4663440"/>
            <a:ext cx="6812280" cy="91440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937760"/>
            <a:ext cx="6355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idea: show one repo + one chat entry + one ticket, then explain how Devin follows the same path inside the current workflow.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for Developers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0" y="731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Community Session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428232"/>
            <a:ext cx="11365992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648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suggestions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2412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demo small. Show one task end-to-end and stop before it becomes risky.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554480"/>
            <a:ext cx="3429000" cy="356616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0664" y="1664208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bug fix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" y="1901952"/>
            <a:ext cx="3136392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tiny open-source or sandbox repo. Ask Devin to reproduce, patch, and test a small defect.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429000" cy="356616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89704" y="1664208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 ticket to PR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9704" y="1901952"/>
            <a:ext cx="3136392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simple issue, then show how Devin turns it into a change you can review.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2440" y="1554480"/>
            <a:ext cx="3474720" cy="35661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38744" y="1664208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C: repo Q&amp;A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38744" y="1901952"/>
            <a:ext cx="3182112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“where is this handled?” question and let DeepWiki answer from context.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53949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note for presenter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539496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fallback screenshot or recording ready in case the live task takes longer than expected.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for Developers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0" y="731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Community Session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428232"/>
            <a:ext cx="11365992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648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ACUs: the cost model you need to respect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2412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 = Agent Compute Unit; think of it as the billing and consumption meter for Devin sessions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554480"/>
            <a:ext cx="342900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0664" y="1664208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ACU usage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" y="1901952"/>
            <a:ext cx="3136392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complexity, number of files touched, runtime, retries, and how much back-and-forth the session needs.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42900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89704" y="1664208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Team-plan reference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9704" y="1901952"/>
            <a:ext cx="3136392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Teams plan includes 250 ACUs, with on-demand continuation once credits are exhausted.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2440" y="1554480"/>
            <a:ext cx="3474720" cy="2057400"/>
          </a:xfrm>
          <a:prstGeom prst="roundRect">
            <a:avLst>
              <a:gd name="adj" fmla="val 6222"/>
            </a:avLst>
          </a:prstGeom>
          <a:solidFill>
            <a:srgbClr val="F8FAFC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38744" y="1664208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mindset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38744" y="1901952"/>
            <a:ext cx="3182112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Smaller, well-scoped sessions are easier to estimate and easier to control.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4023360"/>
            <a:ext cx="10561320" cy="1234440"/>
          </a:xfrm>
          <a:prstGeom prst="roundRect">
            <a:avLst>
              <a:gd name="adj" fmla="val 1037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233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message for the room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5840" y="449884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Devin is still “thinking” but the task is already small and the scope is not changing, stop and re-scope rather than letting the session keep spending ACUs.</a:t>
            </a:r>
            <a:endParaRPr lang="en-US" sz="12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for Developers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0" y="731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Community Session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428232"/>
            <a:ext cx="11365992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648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to avoid burning ACUs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2412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“how to use Devin well” slide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521208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0664" y="170992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" y="1947672"/>
            <a:ext cx="491947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clear scope, file names, and success criteria upfront.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212080" cy="987552"/>
          </a:xfrm>
          <a:prstGeom prst="roundRect">
            <a:avLst>
              <a:gd name="adj" fmla="val 12963"/>
            </a:avLst>
          </a:prstGeom>
          <a:solidFill>
            <a:srgbClr val="F8FAFC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4224" y="170992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context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64224" y="1947672"/>
            <a:ext cx="491947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docs, examples, tests, or conventions before starting.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2834640"/>
            <a:ext cx="521208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0664" y="294436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verification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0664" y="3182112"/>
            <a:ext cx="491947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Devin to run tests and confirm behavior.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2834640"/>
            <a:ext cx="5212080" cy="987552"/>
          </a:xfrm>
          <a:prstGeom prst="roundRect">
            <a:avLst>
              <a:gd name="adj" fmla="val 12963"/>
            </a:avLst>
          </a:prstGeom>
          <a:solidFill>
            <a:srgbClr val="F8FAFC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64224" y="294436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big 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64224" y="3182112"/>
            <a:ext cx="491947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broad tasks into focused sessions.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4069080"/>
            <a:ext cx="521208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0664" y="417880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insights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0664" y="4416552"/>
            <a:ext cx="491947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session insights to see where time and retries were wasted.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4069080"/>
            <a:ext cx="5212080" cy="987552"/>
          </a:xfrm>
          <a:prstGeom prst="roundRect">
            <a:avLst>
              <a:gd name="adj" fmla="val 12963"/>
            </a:avLst>
          </a:prstGeom>
          <a:solidFill>
            <a:srgbClr val="F8FAFC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64224" y="417880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sessions focused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64224" y="4416552"/>
            <a:ext cx="491947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endless prompt tweaks inside one run.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for Developers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0" y="731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Community Session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428232"/>
            <a:ext cx="11365992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648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be careful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2412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presentation credible and practical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554480"/>
            <a:ext cx="3703320" cy="1965960"/>
          </a:xfrm>
          <a:prstGeom prst="roundRect">
            <a:avLst>
              <a:gd name="adj" fmla="val 6512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0664" y="1664208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fit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" y="1901952"/>
            <a:ext cx="341071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engineering tasks with verifiable outcomes and moderate scope.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1554480"/>
            <a:ext cx="3703320" cy="1965960"/>
          </a:xfrm>
          <a:prstGeom prst="roundRect">
            <a:avLst>
              <a:gd name="adj" fmla="val 6512"/>
            </a:avLst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98264" y="1664208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human oversight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98264" y="1901952"/>
            <a:ext cx="341071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product decisions, ambiguous design work, and tasks without a clear “done” state.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09560" y="1554480"/>
            <a:ext cx="365760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55864" y="1664208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guardrails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55864" y="1901952"/>
            <a:ext cx="336499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access, secrets, and permissions should be intentionally configured.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1248" y="3931920"/>
            <a:ext cx="10378440" cy="1234440"/>
          </a:xfrm>
          <a:prstGeom prst="roundRect">
            <a:avLst>
              <a:gd name="adj" fmla="val 1037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160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one-liner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51560" y="4443984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“Devin is powerful when the work is measurable; the human still owns the judgment calls.”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for Developers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0" y="731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Community Session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428232"/>
            <a:ext cx="11365992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648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questions you will get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2412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slide to prime yourself before the Q&amp;A starts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536192"/>
            <a:ext cx="557784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0664" y="1645920"/>
            <a:ext cx="5285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do I keep ACU usage predictable?”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" y="1883664"/>
            <a:ext cx="528523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the task tightly, give context upfront, and split broad work into smaller sessions.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536192"/>
            <a:ext cx="557784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81344" y="1645920"/>
            <a:ext cx="5285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 I trigger Devin from our tools?”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81344" y="1883664"/>
            <a:ext cx="528523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Yes: API, Slack, repo workflows, and MCP-based integrations are the main paths to mention.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2926080"/>
            <a:ext cx="557784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0664" y="3035808"/>
            <a:ext cx="5285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kind of work is it best at?”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0664" y="3273552"/>
            <a:ext cx="528523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items, bug fixes, migrations, tests, docs, and repetitive engineering tasks.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2926080"/>
            <a:ext cx="557784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81344" y="3035808"/>
            <a:ext cx="5285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much do I trust the output?”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81344" y="3273552"/>
            <a:ext cx="528523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it like a very capable teammate: review the diff, run tests, and keep human approval in the loop.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4617720"/>
            <a:ext cx="10287000" cy="868680"/>
          </a:xfrm>
          <a:prstGeom prst="roundRect">
            <a:avLst>
              <a:gd name="adj" fmla="val 1473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882896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with this: “Devin can take substantial work off the team’s plate, but the best results come when the task is scoped, verified, and reviewed well.”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Devin for Developers</dc:title>
  <dc:subject>Devin presentation for developers</dc:subject>
  <dc:creator>OpenAI</dc:creator>
  <cp:lastModifiedBy>OpenAI</cp:lastModifiedBy>
  <cp:revision>1</cp:revision>
  <dcterms:created xsi:type="dcterms:W3CDTF">2026-04-16T03:51:22Z</dcterms:created>
  <dcterms:modified xsi:type="dcterms:W3CDTF">2026-04-16T03:51:22Z</dcterms:modified>
</cp:coreProperties>
</file>